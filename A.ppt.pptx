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15"/>
  </p:notesMasterIdLst>
  <p:sldIdLst>
    <p:sldId id="256" r:id="rId2"/>
    <p:sldId id="257" r:id="rId3"/>
    <p:sldId id="266" r:id="rId4"/>
    <p:sldId id="258" r:id="rId5"/>
    <p:sldId id="260" r:id="rId6"/>
    <p:sldId id="267" r:id="rId7"/>
    <p:sldId id="261" r:id="rId8"/>
    <p:sldId id="270" r:id="rId9"/>
    <p:sldId id="269" r:id="rId10"/>
    <p:sldId id="262" r:id="rId11"/>
    <p:sldId id="268" r:id="rId12"/>
    <p:sldId id="264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>
      <p:ext uri="{19B8F6BF-5375-455C-9EA6-DF929625EA0E}">
        <p15:presenceInfo xmlns="" xmlns:p15="http://schemas.microsoft.com/office/powerpoint/2012/main" userId="D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536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B1E33A-5EB8-4337-A867-7AD28AB69963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5F1287-9815-46BE-8B5C-46552118CD4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96161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26018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0696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22152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89882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2758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20380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77951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04687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81010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05440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="" xmlns:p14="http://schemas.microsoft.com/office/powerpoint/2010/main" val="2100245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06765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81681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61733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73764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74697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517738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dirty="0"/>
              <a:t>Memory Management </a:t>
            </a:r>
            <a:r>
              <a:rPr lang="en-US" sz="4000" dirty="0"/>
              <a:t>optimization strategies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Memory management optimization is the efficient use of memory in a program.</a:t>
            </a:r>
          </a:p>
          <a:p>
            <a:endParaRPr lang="en-US" dirty="0"/>
          </a:p>
          <a:p>
            <a:r>
              <a:rPr lang="en-US" dirty="0"/>
              <a:t>It helps reduce memory wastage and improves performance.</a:t>
            </a:r>
          </a:p>
          <a:p>
            <a:endParaRPr lang="en-US" dirty="0"/>
          </a:p>
          <a:p>
            <a:r>
              <a:rPr lang="en-US" dirty="0"/>
              <a:t>It ensures proper allocation and deallocation of memory.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It prevents problems like memory leaks and fragmentation.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</a:t>
            </a:r>
            <a:r>
              <a:rPr lang="en-US" dirty="0"/>
              <a:t>What is Memory Optimization 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It is the process of:</a:t>
            </a:r>
          </a:p>
          <a:p>
            <a:pPr marL="0" indent="0">
              <a:buNone/>
            </a:pPr>
            <a:r>
              <a:rPr lang="en-US" dirty="0"/>
              <a:t>          Reducing unnecessary memory usage </a:t>
            </a:r>
          </a:p>
          <a:p>
            <a:pPr marL="0" indent="0">
              <a:buNone/>
            </a:pPr>
            <a:r>
              <a:rPr lang="en-US" dirty="0"/>
              <a:t>          Improving allocation/deallocation efficiency</a:t>
            </a:r>
          </a:p>
          <a:p>
            <a:pPr marL="0" indent="0">
              <a:buNone/>
            </a:pPr>
            <a:r>
              <a:rPr lang="en-US" dirty="0"/>
              <a:t>          Preventing memory leaks and fragmentation</a:t>
            </a:r>
          </a:p>
          <a:p>
            <a:endParaRPr lang="en-US" dirty="0"/>
          </a:p>
        </p:txBody>
      </p:sp>
      <p:sp>
        <p:nvSpPr>
          <p:cNvPr id="4" name="Right Arrow 3"/>
          <p:cNvSpPr/>
          <p:nvPr/>
        </p:nvSpPr>
        <p:spPr>
          <a:xfrm>
            <a:off x="1191491" y="2978727"/>
            <a:ext cx="318654" cy="290946"/>
          </a:xfrm>
          <a:prstGeom prst="rightArrow">
            <a:avLst/>
          </a:prstGeom>
          <a:solidFill>
            <a:srgbClr val="FFFF0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/>
          <p:cNvSpPr/>
          <p:nvPr/>
        </p:nvSpPr>
        <p:spPr>
          <a:xfrm>
            <a:off x="1184564" y="3422073"/>
            <a:ext cx="318654" cy="290946"/>
          </a:xfrm>
          <a:prstGeom prst="rightArrow">
            <a:avLst/>
          </a:prstGeom>
          <a:solidFill>
            <a:srgbClr val="FFFF0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1191491" y="3823856"/>
            <a:ext cx="318654" cy="290946"/>
          </a:xfrm>
          <a:prstGeom prst="rightArrow">
            <a:avLst/>
          </a:prstGeom>
          <a:solidFill>
            <a:srgbClr val="FFFF0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91507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Memory Management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Manual memory management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Dynamic allocation functions.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Free function.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Programmer controls allocation and deallocation.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Types</a:t>
            </a:r>
            <a:r>
              <a:rPr lang="en-US" dirty="0"/>
              <a:t> of memory</a:t>
            </a:r>
            <a:r>
              <a:rPr dirty="0"/>
              <a:t>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551709"/>
            <a:ext cx="6711654" cy="4696697"/>
          </a:xfrm>
        </p:spPr>
        <p:txBody>
          <a:bodyPr/>
          <a:lstStyle/>
          <a:p>
            <a:r>
              <a:rPr dirty="0"/>
              <a:t>1. Static Allocation</a:t>
            </a:r>
            <a:r>
              <a:rPr lang="en-US" b="1" dirty="0"/>
              <a:t>: </a:t>
            </a:r>
            <a:r>
              <a:rPr lang="en-US" dirty="0"/>
              <a:t>Static allocation is a type of memory allocation where memory is assigned at compile time (before the program runs), and its size cannot be changed later. For examples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int a = 10;      // single variable.</a:t>
            </a:r>
          </a:p>
          <a:p>
            <a:r>
              <a:rPr lang="en-US" dirty="0"/>
              <a:t>int arr[5];      // fixed-size array.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2. Dynamic Allocation (Heap)</a:t>
            </a:r>
            <a:r>
              <a:rPr lang="en-US" dirty="0"/>
              <a:t>: Dynamic Memory Allocation (DMA) means memory is allocated during program execution (runtime) and can be changed or freed whenever needed.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 Layout of a C Program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796" y="2316700"/>
            <a:ext cx="5258534" cy="3667637"/>
          </a:xfrm>
        </p:spPr>
      </p:pic>
    </p:spTree>
    <p:extLst>
      <p:ext uri="{BB962C8B-B14F-4D97-AF65-F5344CB8AC3E}">
        <p14:creationId xmlns="" xmlns:p14="http://schemas.microsoft.com/office/powerpoint/2010/main" val="834487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623454"/>
            <a:ext cx="7055380" cy="1229793"/>
          </a:xfrm>
        </p:spPr>
        <p:txBody>
          <a:bodyPr/>
          <a:lstStyle/>
          <a:p>
            <a:r>
              <a:rPr dirty="0"/>
              <a:t>Functions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853248"/>
            <a:ext cx="6711654" cy="393795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M</a:t>
            </a:r>
            <a:r>
              <a:rPr/>
              <a:t>alloc</a:t>
            </a:r>
            <a:r>
              <a:rPr lang="en-US" dirty="0"/>
              <a:t>():</a:t>
            </a:r>
            <a:r>
              <a:rPr lang="en-US" altLang="en-US" dirty="0">
                <a:solidFill>
                  <a:srgbClr val="0A0A0A"/>
                </a:solidFill>
                <a:latin typeface="Google Sans"/>
              </a:rPr>
              <a:t> </a:t>
            </a:r>
            <a:r>
              <a:rPr lang="en-US" altLang="en-US" dirty="0">
                <a:latin typeface="Google Sans"/>
              </a:rPr>
              <a:t>Allocates a single block of uninitialized "garbage" memory of the specified byte </a:t>
            </a:r>
            <a:r>
              <a:rPr lang="en-US" altLang="en-US" dirty="0" smtClean="0">
                <a:latin typeface="Google Sans"/>
              </a:rPr>
              <a:t>size</a:t>
            </a:r>
          </a:p>
          <a:p>
            <a:pPr>
              <a:buNone/>
            </a:pPr>
            <a:r>
              <a:rPr lang="en-US" dirty="0" smtClean="0"/>
              <a:t>     </a:t>
            </a:r>
            <a:r>
              <a:rPr lang="en-US" dirty="0" smtClean="0">
                <a:latin typeface="Google Sans"/>
              </a:rPr>
              <a:t>To use malloc(), you must include the &lt;stdlib.h&gt; header file.</a:t>
            </a:r>
            <a:r>
              <a:rPr lang="en-US" dirty="0" smtClean="0"/>
              <a:t> </a:t>
            </a:r>
            <a:endParaRPr lang="en-US" altLang="en-US" dirty="0">
              <a:latin typeface="Google Sans"/>
            </a:endParaRPr>
          </a:p>
          <a:p>
            <a:r>
              <a:rPr lang="en-US" b="1" dirty="0" smtClean="0"/>
              <a:t>size</a:t>
            </a:r>
            <a:r>
              <a:rPr lang="en-US" dirty="0" smtClean="0"/>
              <a:t>: The total number of bytes to allocate. It is of type size_t, an </a:t>
            </a:r>
            <a:r>
              <a:rPr lang="en-US" dirty="0" smtClean="0">
                <a:latin typeface="Google Sans"/>
              </a:rPr>
              <a:t>unsigned</a:t>
            </a:r>
            <a:r>
              <a:rPr lang="en-US" dirty="0" smtClean="0"/>
              <a:t> integer.</a:t>
            </a:r>
          </a:p>
          <a:p>
            <a:r>
              <a:rPr lang="en-GB" dirty="0" smtClean="0">
                <a:latin typeface="Google Sans"/>
              </a:rPr>
              <a:t>Syntax : #include &lt;stdlib.h&gt;void* malloc(size_t size);</a:t>
            </a:r>
          </a:p>
          <a:p>
            <a:endParaRPr lang="en-GB" dirty="0">
              <a:latin typeface="Google Sans"/>
            </a:endParaRPr>
          </a:p>
          <a:p>
            <a:r>
              <a:rPr dirty="0"/>
              <a:t>calloc()</a:t>
            </a:r>
            <a:r>
              <a:rPr lang="en-GB" dirty="0"/>
              <a:t>:</a:t>
            </a:r>
            <a:r>
              <a:rPr lang="en-US" altLang="en-US" dirty="0">
                <a:latin typeface="Google Sans"/>
              </a:rPr>
              <a:t>Allocates memory for an array of </a:t>
            </a:r>
            <a:r>
              <a:rPr lang="en-US" altLang="en-US" dirty="0">
                <a:latin typeface="Arial Unicode MS"/>
              </a:rPr>
              <a:t>num</a:t>
            </a:r>
            <a:r>
              <a:rPr lang="en-US" altLang="en-US" dirty="0">
                <a:latin typeface="Google Sans"/>
              </a:rPr>
              <a:t> elements and initializes all bytes to zero.</a:t>
            </a:r>
            <a:endParaRPr lang="en-US" dirty="0"/>
          </a:p>
          <a:p>
            <a:pPr marL="0" indent="0">
              <a:buNone/>
            </a:pPr>
            <a:endParaRPr lang="en-GB" dirty="0"/>
          </a:p>
          <a:p>
            <a:r>
              <a:rPr dirty="0"/>
              <a:t> free()</a:t>
            </a:r>
            <a:r>
              <a:rPr lang="en-GB" dirty="0"/>
              <a:t>: </a:t>
            </a:r>
            <a:r>
              <a:rPr lang="en-US" dirty="0"/>
              <a:t>Releases the allocated memory block back to the system. </a:t>
            </a:r>
          </a:p>
          <a:p>
            <a:endParaRPr lang="en-US" dirty="0"/>
          </a:p>
          <a:p>
            <a:endParaRPr lang="en-GB" dirty="0"/>
          </a:p>
          <a:p>
            <a:endParaRPr dirty="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97795"/>
            <a:ext cx="301686" cy="26161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-130805"/>
            <a:ext cx="293670" cy="26161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:.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530942"/>
            <a:ext cx="6620968" cy="1460090"/>
          </a:xfrm>
        </p:spPr>
        <p:txBody>
          <a:bodyPr/>
          <a:lstStyle/>
          <a:p>
            <a:r>
              <a:rPr lang="en-US" sz="4000" dirty="0" smtClean="0"/>
              <a:t>Uninitialized Variable &amp; Garbage Value (C)</a:t>
            </a:r>
            <a:endParaRPr lang="en-US" sz="40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866442" y="1799303"/>
            <a:ext cx="6620968" cy="1253614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A variable is created without giving any value It just reserves memory, but no proper value is stored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66442" y="2868251"/>
            <a:ext cx="5397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Examples: </a:t>
            </a:r>
            <a:r>
              <a:rPr lang="en-US" dirty="0" err="1" smtClean="0"/>
              <a:t>int</a:t>
            </a:r>
            <a:r>
              <a:rPr lang="en-US" dirty="0" smtClean="0"/>
              <a:t>   a;  // declared but NOT </a:t>
            </a:r>
            <a:r>
              <a:rPr lang="en-US" dirty="0" smtClean="0"/>
              <a:t>initialized.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99B6619-E452-1AB2-848E-CC8FD5546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84" y="154112"/>
            <a:ext cx="3339100" cy="678096"/>
          </a:xfrm>
        </p:spPr>
        <p:txBody>
          <a:bodyPr/>
          <a:lstStyle/>
          <a:p>
            <a:r>
              <a:rPr lang="en-IN" sz="3200" dirty="0"/>
              <a:t>Garbage Value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9C82AB52-0F93-7FF1-152E-77405F572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7676" y="2157573"/>
            <a:ext cx="3130227" cy="4284324"/>
          </a:xfrm>
        </p:spPr>
        <p:txBody>
          <a:bodyPr>
            <a:normAutofit/>
          </a:bodyPr>
          <a:lstStyle/>
          <a:p>
            <a:r>
              <a:rPr lang="en-GB" dirty="0"/>
              <a:t>  </a:t>
            </a:r>
          </a:p>
          <a:p>
            <a:endParaRPr lang="en-GB" dirty="0"/>
          </a:p>
          <a:p>
            <a:endParaRPr lang="en-IN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="" xmlns:a16="http://schemas.microsoft.com/office/drawing/2014/main" id="{ABA1158E-EE08-2991-28EA-B349E8BBDC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484" y="1962364"/>
            <a:ext cx="8650840" cy="465419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2B769FD4-D1B6-A27D-54BE-573EB6F806AB}"/>
              </a:ext>
            </a:extLst>
          </p:cNvPr>
          <p:cNvSpPr txBox="1"/>
          <p:nvPr/>
        </p:nvSpPr>
        <p:spPr>
          <a:xfrm>
            <a:off x="205484" y="1140431"/>
            <a:ext cx="873303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i="1" dirty="0"/>
              <a:t>      Garbage value</a:t>
            </a:r>
            <a:r>
              <a:rPr lang="en-GB" sz="2200" dirty="0"/>
              <a:t> means a variable contains a random value because it is not initialized</a:t>
            </a:r>
            <a:r>
              <a:rPr lang="en-GB" dirty="0"/>
              <a:t>.</a:t>
            </a:r>
          </a:p>
          <a:p>
            <a:endParaRPr lang="en-IN" dirty="0"/>
          </a:p>
        </p:txBody>
      </p:sp>
      <p:sp>
        <p:nvSpPr>
          <p:cNvPr id="17" name="Arrow: Right 16">
            <a:extLst>
              <a:ext uri="{FF2B5EF4-FFF2-40B4-BE49-F238E27FC236}">
                <a16:creationId xmlns="" xmlns:a16="http://schemas.microsoft.com/office/drawing/2014/main" id="{04D2E794-8AF4-0B1F-9728-002416FE361B}"/>
              </a:ext>
            </a:extLst>
          </p:cNvPr>
          <p:cNvSpPr/>
          <p:nvPr/>
        </p:nvSpPr>
        <p:spPr>
          <a:xfrm>
            <a:off x="287676" y="1187486"/>
            <a:ext cx="462337" cy="363911"/>
          </a:xfrm>
          <a:prstGeom prst="rightArrow">
            <a:avLst>
              <a:gd name="adj1" fmla="val 44353"/>
              <a:gd name="adj2" fmla="val 47880"/>
            </a:avLst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124875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Management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Automatic memory management</a:t>
            </a:r>
          </a:p>
          <a:p>
            <a:r>
              <a:rPr dirty="0"/>
              <a:t>Handled by JVM using Garbage Collection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382" y="1184564"/>
            <a:ext cx="2978727" cy="1711036"/>
          </a:xfrm>
        </p:spPr>
        <p:txBody>
          <a:bodyPr/>
          <a:lstStyle/>
          <a:p>
            <a:r>
              <a:rPr lang="en-US" sz="4400" dirty="0"/>
              <a:t>Garbage Value: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2800" y="1184564"/>
            <a:ext cx="5444835" cy="483523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9382" y="3124201"/>
            <a:ext cx="2836011" cy="2895599"/>
          </a:xfrm>
        </p:spPr>
        <p:txBody>
          <a:bodyPr/>
          <a:lstStyle/>
          <a:p>
            <a:r>
              <a:rPr lang="en-US" sz="2400" dirty="0"/>
              <a:t>A </a:t>
            </a:r>
            <a:r>
              <a:rPr lang="en-US" sz="2400" b="1" dirty="0"/>
              <a:t>garbage value</a:t>
            </a:r>
            <a:r>
              <a:rPr lang="en-US" sz="2400" dirty="0"/>
              <a:t> is a </a:t>
            </a:r>
            <a:r>
              <a:rPr lang="en-US" sz="2400" b="1" dirty="0"/>
              <a:t>random or unknown value</a:t>
            </a:r>
            <a:r>
              <a:rPr lang="en-US" sz="2400" dirty="0"/>
              <a:t> stored in a variable when it is </a:t>
            </a:r>
            <a:r>
              <a:rPr lang="en-US" sz="2400" b="1" dirty="0"/>
              <a:t>not initialized</a:t>
            </a:r>
            <a:r>
              <a:rPr lang="en-US" sz="2400" dirty="0"/>
              <a:t>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="" xmlns:p14="http://schemas.microsoft.com/office/powerpoint/2010/main" val="3488146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1386348"/>
            <a:ext cx="6711654" cy="1253613"/>
          </a:xfrm>
        </p:spPr>
        <p:txBody>
          <a:bodyPr>
            <a:normAutofit lnSpcReduction="10000"/>
          </a:bodyPr>
          <a:lstStyle/>
          <a:p>
            <a:r>
              <a:t>1. Stack Memory</a:t>
            </a:r>
          </a:p>
          <a:p>
            <a:r>
              <a:t>2. Heap Memory</a:t>
            </a:r>
          </a:p>
          <a:p>
            <a:r>
              <a:t>3. Method Area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 = Control + Responsibility</a:t>
            </a:r>
          </a:p>
          <a:p>
            <a:r>
              <a:t>Java = Automation + Safety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TM02900720[[fn=Integral]]</Template>
  <TotalTime>592</TotalTime>
  <Words>332</Words>
  <Application>Microsoft Office PowerPoint</Application>
  <PresentationFormat>On-screen Show (4:3)</PresentationFormat>
  <Paragraphs>61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Ion</vt:lpstr>
      <vt:lpstr>Memory Management optimization strategies</vt:lpstr>
      <vt:lpstr>Introduction</vt:lpstr>
      <vt:lpstr> What is Memory Optimization  </vt:lpstr>
      <vt:lpstr>Memory Management in C</vt:lpstr>
      <vt:lpstr>Types of memory in C</vt:lpstr>
      <vt:lpstr>Memory  Layout of a C Program </vt:lpstr>
      <vt:lpstr>Functions in C</vt:lpstr>
      <vt:lpstr>Uninitialized Variable &amp; Garbage Value (C)</vt:lpstr>
      <vt:lpstr>Garbage Value </vt:lpstr>
      <vt:lpstr>Memory Management in Java</vt:lpstr>
      <vt:lpstr>Garbage Value:</vt:lpstr>
      <vt:lpstr>Types in Java</vt:lpstr>
      <vt:lpstr>Conclusion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Management in C vs Java</dc:title>
  <dc:creator>DELL</dc:creator>
  <dc:description>generated using python-pptx</dc:description>
  <cp:lastModifiedBy>Userhlhkhkkn</cp:lastModifiedBy>
  <cp:revision>30</cp:revision>
  <dcterms:created xsi:type="dcterms:W3CDTF">2013-01-27T09:14:16Z</dcterms:created>
  <dcterms:modified xsi:type="dcterms:W3CDTF">2026-04-11T10:15:24Z</dcterms:modified>
</cp:coreProperties>
</file>