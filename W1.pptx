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6" r:id="rId1"/>
  </p:sldMasterIdLst>
  <p:notesMasterIdLst>
    <p:notesMasterId r:id="rId17"/>
  </p:notesMasterIdLst>
  <p:sldIdLst>
    <p:sldId id="274" r:id="rId2"/>
    <p:sldId id="257" r:id="rId3"/>
    <p:sldId id="266" r:id="rId4"/>
    <p:sldId id="258" r:id="rId5"/>
    <p:sldId id="260" r:id="rId6"/>
    <p:sldId id="267" r:id="rId7"/>
    <p:sldId id="261" r:id="rId8"/>
    <p:sldId id="270" r:id="rId9"/>
    <p:sldId id="269" r:id="rId10"/>
    <p:sldId id="262" r:id="rId11"/>
    <p:sldId id="268" r:id="rId12"/>
    <p:sldId id="272" r:id="rId13"/>
    <p:sldId id="264" r:id="rId14"/>
    <p:sldId id="271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LL" initials="D" lastIdx="1" clrIdx="0">
    <p:extLst>
      <p:ext uri="{19B8F6BF-5375-455C-9EA6-DF929625EA0E}">
        <p15:presenceInfo xmlns:p15="http://schemas.microsoft.com/office/powerpoint/2012/main" userId="DELL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E6E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60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B1E33A-5EB8-4337-A867-7AD28AB69963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5F1287-9815-46BE-8B5C-46552118CD4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161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018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960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5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882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58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38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951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687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010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4408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002453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7655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6810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7333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7641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697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7738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9E982-CF8C-E442-F1FE-ECEB3F2563AB}"/>
              </a:ext>
            </a:extLst>
          </p:cNvPr>
          <p:cNvSpPr txBox="1"/>
          <p:nvPr/>
        </p:nvSpPr>
        <p:spPr>
          <a:xfrm>
            <a:off x="1276709" y="2467154"/>
            <a:ext cx="64008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Memory management optimization strategies</a:t>
            </a:r>
            <a:endParaRPr lang="en-IN" sz="4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A3EB43-FFF6-8497-5F1F-58945B3DCF21}"/>
              </a:ext>
            </a:extLst>
          </p:cNvPr>
          <p:cNvSpPr txBox="1"/>
          <p:nvPr/>
        </p:nvSpPr>
        <p:spPr>
          <a:xfrm>
            <a:off x="1" y="1"/>
            <a:ext cx="7737893" cy="1846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7F0145-11B5-839A-AA62-89CED5E8C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892592" cy="18460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EE3301-18B2-F0B9-43D6-2F114F320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593" y="0"/>
            <a:ext cx="7285911" cy="184605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1737958-4E71-A55B-2451-B4ABE6052C58}"/>
              </a:ext>
            </a:extLst>
          </p:cNvPr>
          <p:cNvSpPr txBox="1"/>
          <p:nvPr/>
        </p:nvSpPr>
        <p:spPr>
          <a:xfrm>
            <a:off x="2622430" y="4226943"/>
            <a:ext cx="32952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NAME : VAIBAV V</a:t>
            </a:r>
          </a:p>
          <a:p>
            <a:r>
              <a:rPr lang="en-GB" sz="2400" dirty="0"/>
              <a:t>COURSE : BCA 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4998148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Introduction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Memory management optimization is the efficient use of memory in a program.</a:t>
            </a:r>
          </a:p>
          <a:p>
            <a:endParaRPr lang="en-US" dirty="0"/>
          </a:p>
          <a:p>
            <a:r>
              <a:rPr lang="en-US" dirty="0"/>
              <a:t>It helps reduce memory wastage and improves performance.</a:t>
            </a:r>
          </a:p>
          <a:p>
            <a:endParaRPr lang="en-US" dirty="0"/>
          </a:p>
          <a:p>
            <a:r>
              <a:rPr lang="en-US" dirty="0"/>
              <a:t>It ensures proper allocation and deallocation of memory.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It prevents problems like memory leaks and fragmentation.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 </a:t>
            </a:r>
            <a:r>
              <a:rPr lang="en-US" dirty="0"/>
              <a:t>What is Memory Optimization 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b="1" dirty="0"/>
          </a:p>
          <a:p>
            <a:r>
              <a:rPr lang="en-US" dirty="0"/>
              <a:t>It is the process of:</a:t>
            </a:r>
          </a:p>
          <a:p>
            <a:pPr marL="0" indent="0">
              <a:buNone/>
            </a:pPr>
            <a:r>
              <a:rPr lang="en-US" dirty="0"/>
              <a:t>          Reducing unnecessary memory usage </a:t>
            </a:r>
          </a:p>
          <a:p>
            <a:pPr marL="0" indent="0">
              <a:buNone/>
            </a:pPr>
            <a:r>
              <a:rPr lang="en-US" dirty="0"/>
              <a:t>          Improving allocation/deallocation efficiency</a:t>
            </a:r>
          </a:p>
          <a:p>
            <a:pPr marL="0" indent="0">
              <a:buNone/>
            </a:pPr>
            <a:r>
              <a:rPr lang="en-US" dirty="0"/>
              <a:t>          Preventing memory leaks and fragmentation</a:t>
            </a:r>
          </a:p>
          <a:p>
            <a:endParaRPr lang="en-US" dirty="0"/>
          </a:p>
        </p:txBody>
      </p:sp>
      <p:sp>
        <p:nvSpPr>
          <p:cNvPr id="4" name="Right Arrow 3"/>
          <p:cNvSpPr/>
          <p:nvPr/>
        </p:nvSpPr>
        <p:spPr>
          <a:xfrm>
            <a:off x="1191491" y="2978727"/>
            <a:ext cx="318654" cy="290946"/>
          </a:xfrm>
          <a:prstGeom prst="rightArrow">
            <a:avLst/>
          </a:prstGeom>
          <a:solidFill>
            <a:srgbClr val="FFFF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/>
          <p:cNvSpPr/>
          <p:nvPr/>
        </p:nvSpPr>
        <p:spPr>
          <a:xfrm>
            <a:off x="1184564" y="3422073"/>
            <a:ext cx="318654" cy="290946"/>
          </a:xfrm>
          <a:prstGeom prst="rightArrow">
            <a:avLst/>
          </a:prstGeom>
          <a:solidFill>
            <a:srgbClr val="FFFF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Arrow 7"/>
          <p:cNvSpPr/>
          <p:nvPr/>
        </p:nvSpPr>
        <p:spPr>
          <a:xfrm>
            <a:off x="1191491" y="3823856"/>
            <a:ext cx="318654" cy="290946"/>
          </a:xfrm>
          <a:prstGeom prst="rightArrow">
            <a:avLst/>
          </a:prstGeom>
          <a:solidFill>
            <a:srgbClr val="FFFF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507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Memory Management in 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Manual memory management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Dynamic allocation functions.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Free function.</a:t>
            </a:r>
          </a:p>
          <a:p>
            <a:pPr marL="0" indent="0">
              <a:buNone/>
            </a:pPr>
            <a:endParaRPr dirty="0"/>
          </a:p>
          <a:p>
            <a:r>
              <a:rPr dirty="0"/>
              <a:t>Programmer controls allocation and deallocation.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Types</a:t>
            </a:r>
            <a:r>
              <a:rPr lang="en-US" dirty="0"/>
              <a:t> of memory</a:t>
            </a:r>
            <a:r>
              <a:rPr dirty="0"/>
              <a:t> in 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1551709"/>
            <a:ext cx="6711654" cy="4696697"/>
          </a:xfrm>
        </p:spPr>
        <p:txBody>
          <a:bodyPr/>
          <a:lstStyle/>
          <a:p>
            <a:r>
              <a:rPr dirty="0"/>
              <a:t>1. Static Allocation</a:t>
            </a:r>
            <a:r>
              <a:rPr lang="en-US" b="1" dirty="0"/>
              <a:t>: </a:t>
            </a:r>
            <a:r>
              <a:rPr lang="en-US" dirty="0"/>
              <a:t>Static allocation is a type of memory allocation where memory is assigned at compile time (before the program runs), and its size cannot be changed later. For examples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int a = 10;      // single variable.</a:t>
            </a:r>
          </a:p>
          <a:p>
            <a:r>
              <a:rPr lang="en-US" dirty="0"/>
              <a:t>int arr[5];      // fixed-size array.</a:t>
            </a:r>
          </a:p>
          <a:p>
            <a:pPr marL="0" indent="0">
              <a:buNone/>
            </a:pPr>
            <a:endParaRPr dirty="0"/>
          </a:p>
          <a:p>
            <a:r>
              <a:rPr dirty="0"/>
              <a:t>2. Dynamic Allocation (Heap)</a:t>
            </a:r>
            <a:r>
              <a:rPr lang="en-US" dirty="0"/>
              <a:t>: Dynamic Memory Allocation (DMA) means memory is allocated during program execution (runtime) and can be changed or freed whenever needed.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 Layout of a C Program</a:t>
            </a:r>
            <a:br>
              <a:rPr lang="en-US" dirty="0"/>
            </a:b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3796" y="2316700"/>
            <a:ext cx="5258534" cy="3667637"/>
          </a:xfrm>
        </p:spPr>
      </p:pic>
    </p:spTree>
    <p:extLst>
      <p:ext uri="{BB962C8B-B14F-4D97-AF65-F5344CB8AC3E}">
        <p14:creationId xmlns:p14="http://schemas.microsoft.com/office/powerpoint/2010/main" val="8344871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623454"/>
            <a:ext cx="7055380" cy="1229793"/>
          </a:xfrm>
        </p:spPr>
        <p:txBody>
          <a:bodyPr/>
          <a:lstStyle/>
          <a:p>
            <a:r>
              <a:rPr dirty="0"/>
              <a:t>Functions in 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1853248"/>
            <a:ext cx="6711654" cy="393795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</a:t>
            </a:r>
            <a:r>
              <a:t>alloc</a:t>
            </a:r>
            <a:r>
              <a:rPr lang="en-US" dirty="0"/>
              <a:t>():</a:t>
            </a:r>
            <a:r>
              <a:rPr lang="en-US" altLang="en-US" dirty="0">
                <a:solidFill>
                  <a:srgbClr val="0A0A0A"/>
                </a:solidFill>
                <a:latin typeface="Google Sans"/>
              </a:rPr>
              <a:t> </a:t>
            </a:r>
            <a:r>
              <a:rPr lang="en-US" altLang="en-US" dirty="0">
                <a:latin typeface="Google Sans"/>
              </a:rPr>
              <a:t>Allocates a single block of uninitialized "garbage" memory of the specified byte size</a:t>
            </a:r>
          </a:p>
          <a:p>
            <a:pPr>
              <a:buNone/>
            </a:pPr>
            <a:r>
              <a:rPr lang="en-US" dirty="0"/>
              <a:t>     </a:t>
            </a:r>
            <a:r>
              <a:rPr lang="en-US" dirty="0">
                <a:latin typeface="Google Sans"/>
              </a:rPr>
              <a:t>To use malloc(), you must include the &lt;stdlib.h&gt; header file.</a:t>
            </a:r>
            <a:r>
              <a:rPr lang="en-US" dirty="0"/>
              <a:t> </a:t>
            </a:r>
            <a:endParaRPr lang="en-US" altLang="en-US" dirty="0">
              <a:latin typeface="Google Sans"/>
            </a:endParaRPr>
          </a:p>
          <a:p>
            <a:r>
              <a:rPr lang="en-US" b="1" dirty="0"/>
              <a:t>size</a:t>
            </a:r>
            <a:r>
              <a:rPr lang="en-US" dirty="0"/>
              <a:t>: The total number of bytes to allocate. It is of type size_t, an </a:t>
            </a:r>
            <a:r>
              <a:rPr lang="en-US" dirty="0">
                <a:latin typeface="Google Sans"/>
              </a:rPr>
              <a:t>unsigned</a:t>
            </a:r>
            <a:r>
              <a:rPr lang="en-US" dirty="0"/>
              <a:t> integer.</a:t>
            </a:r>
          </a:p>
          <a:p>
            <a:r>
              <a:rPr lang="en-GB" dirty="0">
                <a:latin typeface="Google Sans"/>
              </a:rPr>
              <a:t>Syntax : #include &lt;stdlib.h&gt;void* malloc(size_t size);</a:t>
            </a:r>
          </a:p>
          <a:p>
            <a:endParaRPr lang="en-GB" dirty="0">
              <a:latin typeface="Google Sans"/>
            </a:endParaRPr>
          </a:p>
          <a:p>
            <a:r>
              <a:rPr dirty="0"/>
              <a:t>calloc()</a:t>
            </a:r>
            <a:r>
              <a:rPr lang="en-GB" dirty="0"/>
              <a:t>:</a:t>
            </a:r>
            <a:r>
              <a:rPr lang="en-US" altLang="en-US" dirty="0">
                <a:latin typeface="Google Sans"/>
              </a:rPr>
              <a:t>Allocates memory for an array of </a:t>
            </a:r>
            <a:r>
              <a:rPr lang="en-US" altLang="en-US" dirty="0">
                <a:latin typeface="Arial Unicode MS"/>
              </a:rPr>
              <a:t>num</a:t>
            </a:r>
            <a:r>
              <a:rPr lang="en-US" altLang="en-US" dirty="0">
                <a:latin typeface="Google Sans"/>
              </a:rPr>
              <a:t> elements and initializes all bytes to zero.</a:t>
            </a:r>
            <a:endParaRPr lang="en-US" dirty="0"/>
          </a:p>
          <a:p>
            <a:pPr marL="0" indent="0">
              <a:buNone/>
            </a:pPr>
            <a:endParaRPr lang="en-GB" dirty="0"/>
          </a:p>
          <a:p>
            <a:r>
              <a:rPr dirty="0"/>
              <a:t> free()</a:t>
            </a:r>
            <a:r>
              <a:rPr lang="en-GB" dirty="0"/>
              <a:t>: </a:t>
            </a:r>
            <a:r>
              <a:rPr lang="en-US" dirty="0"/>
              <a:t>Releases the allocated memory block back to the system. </a:t>
            </a:r>
          </a:p>
          <a:p>
            <a:endParaRPr lang="en-US" dirty="0"/>
          </a:p>
          <a:p>
            <a:endParaRPr lang="en-GB" dirty="0"/>
          </a:p>
          <a:p>
            <a:endParaRPr dirty="0"/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0" y="97795"/>
            <a:ext cx="301686" cy="261610"/>
          </a:xfrm>
          <a:prstGeom prst="rect">
            <a:avLst/>
          </a:prstGeom>
          <a:solidFill>
            <a:srgbClr val="F3F5F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(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8"/>
          <p:cNvSpPr>
            <a:spLocks noChangeArrowheads="1"/>
          </p:cNvSpPr>
          <p:nvPr/>
        </p:nvSpPr>
        <p:spPr bwMode="auto">
          <a:xfrm>
            <a:off x="0" y="-130805"/>
            <a:ext cx="293670" cy="261610"/>
          </a:xfrm>
          <a:prstGeom prst="rect">
            <a:avLst/>
          </a:prstGeom>
          <a:solidFill>
            <a:srgbClr val="F3F5F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:.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530942"/>
            <a:ext cx="6620968" cy="1460090"/>
          </a:xfrm>
        </p:spPr>
        <p:txBody>
          <a:bodyPr/>
          <a:lstStyle/>
          <a:p>
            <a:r>
              <a:rPr lang="en-US" sz="4000" dirty="0"/>
              <a:t>Uninitialized Variable &amp; Garbage Value (C)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half" idx="2"/>
          </p:nvPr>
        </p:nvSpPr>
        <p:spPr>
          <a:xfrm>
            <a:off x="866442" y="1799303"/>
            <a:ext cx="6620968" cy="1253614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dirty="0"/>
              <a:t>A variable is created without giving any value It just reserves memory, but no proper value is stored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6442" y="2868251"/>
            <a:ext cx="53979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Examples: </a:t>
            </a:r>
            <a:r>
              <a:rPr lang="en-US" dirty="0" err="1"/>
              <a:t>int</a:t>
            </a:r>
            <a:r>
              <a:rPr lang="en-US" dirty="0"/>
              <a:t>   a;  // declared but NOT initialized.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B6619-E452-1AB2-848E-CC8FD5546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484" y="154112"/>
            <a:ext cx="3339100" cy="678096"/>
          </a:xfrm>
        </p:spPr>
        <p:txBody>
          <a:bodyPr/>
          <a:lstStyle/>
          <a:p>
            <a:r>
              <a:rPr lang="en-IN" sz="3200" dirty="0"/>
              <a:t>Garbage Value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82AB52-0F93-7FF1-152E-77405F5726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87676" y="2157573"/>
            <a:ext cx="3130227" cy="4284324"/>
          </a:xfrm>
        </p:spPr>
        <p:txBody>
          <a:bodyPr>
            <a:normAutofit/>
          </a:bodyPr>
          <a:lstStyle/>
          <a:p>
            <a:r>
              <a:rPr lang="en-GB" dirty="0"/>
              <a:t>  </a:t>
            </a:r>
          </a:p>
          <a:p>
            <a:endParaRPr lang="en-GB" dirty="0"/>
          </a:p>
          <a:p>
            <a:endParaRPr lang="en-IN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ABA1158E-EE08-2991-28EA-B349E8BBDC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484" y="2049695"/>
            <a:ext cx="8650840" cy="465419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B769FD4-D1B6-A27D-54BE-573EB6F806AB}"/>
              </a:ext>
            </a:extLst>
          </p:cNvPr>
          <p:cNvSpPr txBox="1"/>
          <p:nvPr/>
        </p:nvSpPr>
        <p:spPr>
          <a:xfrm>
            <a:off x="205484" y="1140431"/>
            <a:ext cx="8733032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i="1" dirty="0"/>
              <a:t>      Garbage value</a:t>
            </a:r>
            <a:r>
              <a:rPr lang="en-GB" sz="2200" dirty="0"/>
              <a:t> means a variable contains a random value because it is not initialized</a:t>
            </a:r>
            <a:r>
              <a:rPr lang="en-GB" dirty="0"/>
              <a:t>.</a:t>
            </a:r>
          </a:p>
          <a:p>
            <a:endParaRPr lang="en-IN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04D2E794-8AF4-0B1F-9728-002416FE361B}"/>
              </a:ext>
            </a:extLst>
          </p:cNvPr>
          <p:cNvSpPr/>
          <p:nvPr/>
        </p:nvSpPr>
        <p:spPr>
          <a:xfrm>
            <a:off x="287676" y="1187486"/>
            <a:ext cx="462337" cy="363911"/>
          </a:xfrm>
          <a:prstGeom prst="rightArrow">
            <a:avLst>
              <a:gd name="adj1" fmla="val 44353"/>
              <a:gd name="adj2" fmla="val 47880"/>
            </a:avLst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4875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Memory Management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Automatic memory management</a:t>
            </a:r>
            <a:r>
              <a:rPr lang="en-GB" dirty="0"/>
              <a:t>.</a:t>
            </a:r>
          </a:p>
          <a:p>
            <a:r>
              <a:rPr dirty="0"/>
              <a:t>Handled by JVM using Garbage Collection</a:t>
            </a:r>
            <a:r>
              <a:rPr lang="en-GB" dirty="0"/>
              <a:t>.</a:t>
            </a:r>
          </a:p>
          <a:p>
            <a:r>
              <a:rPr lang="en-GB" dirty="0"/>
              <a:t>Memory divided into Stack, Heap, and Method Area.</a:t>
            </a:r>
          </a:p>
          <a:p>
            <a:r>
              <a:rPr lang="en-GB" dirty="0"/>
              <a:t>Objects stored in Heap using new keyword.</a:t>
            </a:r>
          </a:p>
          <a:p>
            <a:r>
              <a:rPr lang="en-GB" dirty="0"/>
              <a:t>Unused objects are automatically removed. </a:t>
            </a:r>
          </a:p>
          <a:p>
            <a:r>
              <a:rPr lang="en-GB" dirty="0"/>
              <a:t>Improves program safety and reduces errors 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382" y="86264"/>
            <a:ext cx="2978727" cy="1285336"/>
          </a:xfrm>
        </p:spPr>
        <p:txBody>
          <a:bodyPr/>
          <a:lstStyle/>
          <a:p>
            <a:r>
              <a:rPr lang="en-US" sz="4400" dirty="0"/>
              <a:t>Garbage Value:</a:t>
            </a:r>
            <a:endParaRPr lang="en-US" sz="4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EC7B427-F509-C2D3-8F12-E7FA00C701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8696" y="1207698"/>
            <a:ext cx="6413722" cy="5564038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9383" y="1587260"/>
            <a:ext cx="2459312" cy="2208364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A </a:t>
            </a:r>
            <a:r>
              <a:rPr lang="en-US" sz="2400" b="1" dirty="0"/>
              <a:t>garbage value</a:t>
            </a:r>
            <a:r>
              <a:rPr lang="en-US" sz="2400" dirty="0"/>
              <a:t> is a </a:t>
            </a:r>
            <a:r>
              <a:rPr lang="en-US" sz="2400" b="1" dirty="0"/>
              <a:t>random or unknown value</a:t>
            </a:r>
            <a:r>
              <a:rPr lang="en-US" sz="2400" dirty="0"/>
              <a:t> stored in a variable when it is </a:t>
            </a:r>
            <a:r>
              <a:rPr lang="en-US" sz="2400" b="1" dirty="0"/>
              <a:t>not initialized</a:t>
            </a:r>
            <a:r>
              <a:rPr lang="en-US" sz="2400" dirty="0"/>
              <a:t>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488146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6E44D6-2137-E7FE-B748-15F2419FA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70" y="1319845"/>
            <a:ext cx="7988060" cy="5193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EC423A-BC27-936F-00AD-43321B33459F}"/>
              </a:ext>
            </a:extLst>
          </p:cNvPr>
          <p:cNvSpPr txBox="1"/>
          <p:nvPr/>
        </p:nvSpPr>
        <p:spPr>
          <a:xfrm>
            <a:off x="646981" y="178567"/>
            <a:ext cx="69442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Java (GCE) Flow</a:t>
            </a:r>
            <a:endParaRPr lang="en-IN" sz="4000" dirty="0"/>
          </a:p>
        </p:txBody>
      </p:sp>
    </p:spTree>
    <p:extLst>
      <p:ext uri="{BB962C8B-B14F-4D97-AF65-F5344CB8AC3E}">
        <p14:creationId xmlns:p14="http://schemas.microsoft.com/office/powerpoint/2010/main" val="2100607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138024"/>
            <a:ext cx="6140377" cy="819508"/>
          </a:xfrm>
        </p:spPr>
        <p:txBody>
          <a:bodyPr/>
          <a:lstStyle/>
          <a:p>
            <a:r>
              <a:rPr lang="en-GB" dirty="0"/>
              <a:t>Applications of </a:t>
            </a:r>
            <a:r>
              <a:rPr dirty="0"/>
              <a:t>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710" y="957532"/>
            <a:ext cx="2870965" cy="1259457"/>
          </a:xfrm>
        </p:spPr>
        <p:txBody>
          <a:bodyPr>
            <a:normAutofit lnSpcReduction="10000"/>
          </a:bodyPr>
          <a:lstStyle/>
          <a:p>
            <a:r>
              <a:rPr dirty="0"/>
              <a:t>1. Stack Memory</a:t>
            </a:r>
          </a:p>
          <a:p>
            <a:r>
              <a:rPr dirty="0"/>
              <a:t>2. Heap Memory</a:t>
            </a:r>
          </a:p>
          <a:p>
            <a:r>
              <a:rPr dirty="0"/>
              <a:t>3. Method Area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082D1A-D1AF-5D7B-B8B3-E0D81EDB6CE0}"/>
              </a:ext>
            </a:extLst>
          </p:cNvPr>
          <p:cNvSpPr txBox="1"/>
          <p:nvPr/>
        </p:nvSpPr>
        <p:spPr>
          <a:xfrm>
            <a:off x="638355" y="2449902"/>
            <a:ext cx="7841411" cy="38301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D643DC-14B9-0BC7-F032-549984219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10" y="2130725"/>
            <a:ext cx="7572362" cy="432183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CA223-EA4B-7A85-7A8D-E6D416D2A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528" y="408950"/>
            <a:ext cx="7487729" cy="1411223"/>
          </a:xfrm>
        </p:spPr>
        <p:txBody>
          <a:bodyPr/>
          <a:lstStyle/>
          <a:p>
            <a:r>
              <a:rPr lang="en-GB" dirty="0"/>
              <a:t>Java Memory Management Working</a:t>
            </a:r>
            <a:endParaRPr lang="en-IN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2847BD9-47E9-7FD4-3CB4-3BF17EE559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0551" y="1820174"/>
            <a:ext cx="8307237" cy="473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1503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1958034"/>
            <a:ext cx="6711654" cy="4195481"/>
          </a:xfrm>
        </p:spPr>
        <p:txBody>
          <a:bodyPr/>
          <a:lstStyle/>
          <a:p>
            <a:r>
              <a:rPr lang="en-GB" dirty="0"/>
              <a:t>Efficient Memory Allocation </a:t>
            </a:r>
          </a:p>
          <a:p>
            <a:r>
              <a:rPr lang="en-GB" dirty="0"/>
              <a:t>Proper Memory Deallocation </a:t>
            </a:r>
          </a:p>
          <a:p>
            <a:r>
              <a:rPr lang="en-GB" dirty="0"/>
              <a:t>Minimizing Unnecessary Objects and Variables </a:t>
            </a:r>
          </a:p>
          <a:p>
            <a:r>
              <a:rPr lang="en-GB" dirty="0"/>
              <a:t>Memory Reuse and Optimization 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TM02900720[[fn=Integral]]</Template>
  <TotalTime>707</TotalTime>
  <Words>479</Words>
  <Application>Microsoft Office PowerPoint</Application>
  <PresentationFormat>On-screen Show (4:3)</PresentationFormat>
  <Paragraphs>71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Arial Unicode MS</vt:lpstr>
      <vt:lpstr>Calibri</vt:lpstr>
      <vt:lpstr>Century Gothic</vt:lpstr>
      <vt:lpstr>Google Sans</vt:lpstr>
      <vt:lpstr>Wingdings</vt:lpstr>
      <vt:lpstr>Wingdings 3</vt:lpstr>
      <vt:lpstr>Ion</vt:lpstr>
      <vt:lpstr>PowerPoint Presentation</vt:lpstr>
      <vt:lpstr>Introduction</vt:lpstr>
      <vt:lpstr> What is Memory Optimization  </vt:lpstr>
      <vt:lpstr>Memory Management in C</vt:lpstr>
      <vt:lpstr>Types of memory in C</vt:lpstr>
      <vt:lpstr>Memory  Layout of a C Program </vt:lpstr>
      <vt:lpstr>Functions in C</vt:lpstr>
      <vt:lpstr>Uninitialized Variable &amp; Garbage Value (C)</vt:lpstr>
      <vt:lpstr>Garbage Value </vt:lpstr>
      <vt:lpstr>Memory Management in Java</vt:lpstr>
      <vt:lpstr>Garbage Value:</vt:lpstr>
      <vt:lpstr>PowerPoint Presentation</vt:lpstr>
      <vt:lpstr>Applications of  Java</vt:lpstr>
      <vt:lpstr>Java Memory Management Working</vt:lpstr>
      <vt:lpstr>Conclusion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Management in C vs Java</dc:title>
  <dc:creator>DELL</dc:creator>
  <dc:description>generated using python-pptx</dc:description>
  <cp:lastModifiedBy>DELL</cp:lastModifiedBy>
  <cp:revision>32</cp:revision>
  <dcterms:created xsi:type="dcterms:W3CDTF">2013-01-27T09:14:16Z</dcterms:created>
  <dcterms:modified xsi:type="dcterms:W3CDTF">2026-04-13T16:26:14Z</dcterms:modified>
</cp:coreProperties>
</file>