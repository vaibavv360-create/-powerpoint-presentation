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17"/>
  </p:notesMasterIdLst>
  <p:sldIdLst>
    <p:sldId id="274" r:id="rId2"/>
    <p:sldId id="257" r:id="rId3"/>
    <p:sldId id="266" r:id="rId4"/>
    <p:sldId id="258" r:id="rId5"/>
    <p:sldId id="260" r:id="rId6"/>
    <p:sldId id="267" r:id="rId7"/>
    <p:sldId id="261" r:id="rId8"/>
    <p:sldId id="270" r:id="rId9"/>
    <p:sldId id="269" r:id="rId10"/>
    <p:sldId id="262" r:id="rId11"/>
    <p:sldId id="268" r:id="rId12"/>
    <p:sldId id="272" r:id="rId13"/>
    <p:sldId id="264" r:id="rId14"/>
    <p:sldId id="271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E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1E33A-5EB8-4337-A867-7AD28AB6996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F1287-9815-46BE-8B5C-46552118CD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6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1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6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8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8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5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8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1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40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024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6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1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3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64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9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73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9E982-CF8C-E442-F1FE-ECEB3F2563AB}"/>
              </a:ext>
            </a:extLst>
          </p:cNvPr>
          <p:cNvSpPr txBox="1"/>
          <p:nvPr/>
        </p:nvSpPr>
        <p:spPr>
          <a:xfrm>
            <a:off x="1276709" y="2467154"/>
            <a:ext cx="640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/>
              <a:t>Memory management optimization strategies</a:t>
            </a:r>
            <a:endParaRPr lang="en-IN" sz="42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3EB43-FFF6-8497-5F1F-58945B3DCF21}"/>
              </a:ext>
            </a:extLst>
          </p:cNvPr>
          <p:cNvSpPr txBox="1"/>
          <p:nvPr/>
        </p:nvSpPr>
        <p:spPr>
          <a:xfrm>
            <a:off x="1" y="1"/>
            <a:ext cx="7737893" cy="1846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F0145-11B5-839A-AA62-89CED5E8C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892592" cy="1846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EE3301-18B2-F0B9-43D6-2F114F32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593" y="0"/>
            <a:ext cx="7285911" cy="18460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737958-4E71-A55B-2451-B4ABE6052C58}"/>
              </a:ext>
            </a:extLst>
          </p:cNvPr>
          <p:cNvSpPr txBox="1"/>
          <p:nvPr/>
        </p:nvSpPr>
        <p:spPr>
          <a:xfrm>
            <a:off x="2673927" y="4959927"/>
            <a:ext cx="3408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V.VAIBAV </a:t>
            </a:r>
            <a:endParaRPr lang="en-GB" sz="2400" dirty="0"/>
          </a:p>
          <a:p>
            <a:r>
              <a:rPr lang="en-IN" sz="2400" dirty="0" smtClean="0"/>
              <a:t>R.KOTTEESWARAN</a:t>
            </a:r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745673" y="4197926"/>
            <a:ext cx="532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COLLABORATIVE</a:t>
            </a:r>
            <a:r>
              <a:rPr lang="en-US" sz="2000" dirty="0" smtClean="0"/>
              <a:t> </a:t>
            </a:r>
            <a:r>
              <a:rPr lang="en-US" sz="2800" dirty="0" smtClean="0"/>
              <a:t>WORK BY: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99814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management optimization is the efficient use of memory in a program.</a:t>
            </a:r>
          </a:p>
          <a:p>
            <a:endParaRPr lang="en-US" dirty="0"/>
          </a:p>
          <a:p>
            <a:r>
              <a:rPr lang="en-US" dirty="0"/>
              <a:t>It helps reduce memory wastage and improves performance.</a:t>
            </a:r>
          </a:p>
          <a:p>
            <a:endParaRPr lang="en-US" dirty="0"/>
          </a:p>
          <a:p>
            <a:r>
              <a:rPr lang="en-US" dirty="0"/>
              <a:t>It ensures proper allocation and deallocation of memory.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prevents problems like memory leaks and fragmentation.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dirty="0"/>
              <a:t>What is Memory Optimization 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It is the process of:</a:t>
            </a:r>
          </a:p>
          <a:p>
            <a:pPr marL="0" indent="0">
              <a:buNone/>
            </a:pPr>
            <a:r>
              <a:rPr lang="en-US" dirty="0"/>
              <a:t>          Reducing unnecessary memory usage </a:t>
            </a:r>
          </a:p>
          <a:p>
            <a:pPr marL="0" indent="0">
              <a:buNone/>
            </a:pPr>
            <a:r>
              <a:rPr lang="en-US" dirty="0"/>
              <a:t>          Improving allocation/deallocation efficiency</a:t>
            </a:r>
          </a:p>
          <a:p>
            <a:pPr marL="0" indent="0">
              <a:buNone/>
            </a:pPr>
            <a:r>
              <a:rPr lang="en-US" dirty="0"/>
              <a:t>          Preventing memory leaks and fragmentation</a:t>
            </a:r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1191491" y="2978727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1184564" y="3422073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1191491" y="3823856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0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Memory Management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memory management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Dynamic allocation functions.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Free function.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Programmer controls allocation and deallocation.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</a:t>
            </a:r>
            <a:r>
              <a:rPr lang="en-US" dirty="0"/>
              <a:t> of memory</a:t>
            </a:r>
            <a:r>
              <a:rPr dirty="0"/>
              <a:t>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551709"/>
            <a:ext cx="6711654" cy="4696697"/>
          </a:xfrm>
        </p:spPr>
        <p:txBody>
          <a:bodyPr/>
          <a:lstStyle/>
          <a:p>
            <a:r>
              <a:rPr dirty="0"/>
              <a:t>1. Static Allocation</a:t>
            </a:r>
            <a:r>
              <a:rPr lang="en-US" b="1" dirty="0"/>
              <a:t>: </a:t>
            </a:r>
            <a:r>
              <a:rPr lang="en-US" dirty="0"/>
              <a:t>Static allocation is a type of memory allocation where memory is assigned at compile time (before the program runs), and its size cannot be changed later. For examples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int a = 10;      // single variable.</a:t>
            </a:r>
          </a:p>
          <a:p>
            <a:r>
              <a:rPr lang="en-US" dirty="0"/>
              <a:t>int arr[5];      // fixed-size array.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2. Dynamic Allocation (Heap)</a:t>
            </a:r>
            <a:r>
              <a:rPr lang="en-US" dirty="0"/>
              <a:t>: Dynamic Memory Allocation (DMA) means memory is allocated during program execution (runtime) and can be changed or freed whenever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 Layout of a C Program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796" y="2316700"/>
            <a:ext cx="5258534" cy="3667637"/>
          </a:xfrm>
        </p:spPr>
      </p:pic>
    </p:spTree>
    <p:extLst>
      <p:ext uri="{BB962C8B-B14F-4D97-AF65-F5344CB8AC3E}">
        <p14:creationId xmlns:p14="http://schemas.microsoft.com/office/powerpoint/2010/main" val="83448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623454"/>
            <a:ext cx="7055380" cy="1229793"/>
          </a:xfrm>
        </p:spPr>
        <p:txBody>
          <a:bodyPr/>
          <a:lstStyle/>
          <a:p>
            <a:r>
              <a:rPr dirty="0"/>
              <a:t>Functions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53248"/>
            <a:ext cx="6711654" cy="393795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</a:t>
            </a:r>
            <a:r>
              <a:t>alloc</a:t>
            </a:r>
            <a:r>
              <a:rPr lang="en-US" dirty="0"/>
              <a:t>():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altLang="en-US" dirty="0">
                <a:latin typeface="Google Sans"/>
              </a:rPr>
              <a:t>Allocates a single block of uninitialized "garbage" memory of the specified byte size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>
                <a:latin typeface="Google Sans"/>
              </a:rPr>
              <a:t>To use malloc(), you must include the &lt;stdlib.h&gt; header file.</a:t>
            </a:r>
            <a:r>
              <a:rPr lang="en-US" dirty="0"/>
              <a:t> </a:t>
            </a:r>
            <a:endParaRPr lang="en-US" altLang="en-US" dirty="0">
              <a:latin typeface="Google Sans"/>
            </a:endParaRPr>
          </a:p>
          <a:p>
            <a:r>
              <a:rPr lang="en-US" b="1" dirty="0"/>
              <a:t>size</a:t>
            </a:r>
            <a:r>
              <a:rPr lang="en-US" dirty="0"/>
              <a:t>: The total number of bytes to allocate. It is of type size_t, an </a:t>
            </a:r>
            <a:r>
              <a:rPr lang="en-US" dirty="0">
                <a:latin typeface="Google Sans"/>
              </a:rPr>
              <a:t>unsigned</a:t>
            </a:r>
            <a:r>
              <a:rPr lang="en-US" dirty="0"/>
              <a:t> integer.</a:t>
            </a:r>
          </a:p>
          <a:p>
            <a:r>
              <a:rPr lang="en-GB" dirty="0">
                <a:latin typeface="Google Sans"/>
              </a:rPr>
              <a:t>Syntax : #include &lt;stdlib.h&gt;void* malloc(size_t size);</a:t>
            </a:r>
          </a:p>
          <a:p>
            <a:endParaRPr lang="en-GB" dirty="0">
              <a:latin typeface="Google Sans"/>
            </a:endParaRPr>
          </a:p>
          <a:p>
            <a:r>
              <a:rPr dirty="0"/>
              <a:t>calloc()</a:t>
            </a:r>
            <a:r>
              <a:rPr lang="en-GB" dirty="0"/>
              <a:t>:</a:t>
            </a:r>
            <a:r>
              <a:rPr lang="en-US" altLang="en-US" dirty="0">
                <a:latin typeface="Google Sans"/>
              </a:rPr>
              <a:t>Allocates memory for an array of </a:t>
            </a:r>
            <a:r>
              <a:rPr lang="en-US" altLang="en-US" dirty="0">
                <a:latin typeface="Arial Unicode MS"/>
              </a:rPr>
              <a:t>num</a:t>
            </a:r>
            <a:r>
              <a:rPr lang="en-US" altLang="en-US" dirty="0">
                <a:latin typeface="Google Sans"/>
              </a:rPr>
              <a:t> elements and initializes all bytes to zero.</a:t>
            </a:r>
            <a:endParaRPr lang="en-US" dirty="0"/>
          </a:p>
          <a:p>
            <a:pPr marL="0" indent="0">
              <a:buNone/>
            </a:pPr>
            <a:endParaRPr lang="en-GB" dirty="0"/>
          </a:p>
          <a:p>
            <a:r>
              <a:rPr dirty="0"/>
              <a:t> free()</a:t>
            </a:r>
            <a:r>
              <a:rPr lang="en-GB" dirty="0"/>
              <a:t>: </a:t>
            </a:r>
            <a:r>
              <a:rPr lang="en-US" dirty="0"/>
              <a:t>Releases the allocated memory block back to the system. </a:t>
            </a:r>
          </a:p>
          <a:p>
            <a:endParaRPr lang="en-US" dirty="0"/>
          </a:p>
          <a:p>
            <a:endParaRPr lang="en-GB" dirty="0"/>
          </a:p>
          <a:p>
            <a:endParaRPr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97795"/>
            <a:ext cx="301686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-130805"/>
            <a:ext cx="293670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530942"/>
            <a:ext cx="6620968" cy="1460090"/>
          </a:xfrm>
        </p:spPr>
        <p:txBody>
          <a:bodyPr/>
          <a:lstStyle/>
          <a:p>
            <a:r>
              <a:rPr lang="en-US" sz="4000" dirty="0"/>
              <a:t>Uninitialized Variable &amp; Garbage Value (C)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66442" y="1799303"/>
            <a:ext cx="6620968" cy="1253614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A variable is created without giving any value It just reserves memory, but no proper value is stored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442" y="2868251"/>
            <a:ext cx="5397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Examples: int   a;  // declared but NOT initialized.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6619-E452-1AB2-848E-CC8FD554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4" y="154112"/>
            <a:ext cx="3339100" cy="678096"/>
          </a:xfrm>
        </p:spPr>
        <p:txBody>
          <a:bodyPr/>
          <a:lstStyle/>
          <a:p>
            <a:r>
              <a:rPr lang="en-IN" sz="3200" dirty="0"/>
              <a:t>Garbage Value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2AB52-0F93-7FF1-152E-77405F572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676" y="2157573"/>
            <a:ext cx="3130227" cy="4284324"/>
          </a:xfrm>
        </p:spPr>
        <p:txBody>
          <a:bodyPr>
            <a:normAutofit/>
          </a:bodyPr>
          <a:lstStyle/>
          <a:p>
            <a:r>
              <a:rPr lang="en-GB" dirty="0"/>
              <a:t>  </a:t>
            </a:r>
          </a:p>
          <a:p>
            <a:endParaRPr lang="en-GB" dirty="0"/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769FD4-D1B6-A27D-54BE-573EB6F806AB}"/>
              </a:ext>
            </a:extLst>
          </p:cNvPr>
          <p:cNvSpPr txBox="1"/>
          <p:nvPr/>
        </p:nvSpPr>
        <p:spPr>
          <a:xfrm>
            <a:off x="205484" y="1140431"/>
            <a:ext cx="87330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i="1" dirty="0"/>
              <a:t>      Garbage value</a:t>
            </a:r>
            <a:r>
              <a:rPr lang="en-GB" sz="2200" dirty="0"/>
              <a:t> means a variable contains a random value because it is not initialized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4D2E794-8AF4-0B1F-9728-002416FE361B}"/>
              </a:ext>
            </a:extLst>
          </p:cNvPr>
          <p:cNvSpPr/>
          <p:nvPr/>
        </p:nvSpPr>
        <p:spPr>
          <a:xfrm>
            <a:off x="287676" y="1187486"/>
            <a:ext cx="462337" cy="363911"/>
          </a:xfrm>
          <a:prstGeom prst="rightArrow">
            <a:avLst>
              <a:gd name="adj1" fmla="val 44353"/>
              <a:gd name="adj2" fmla="val 47880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13" y="2720954"/>
            <a:ext cx="6996515" cy="3157561"/>
          </a:xfrm>
        </p:spPr>
      </p:pic>
    </p:spTree>
    <p:extLst>
      <p:ext uri="{BB962C8B-B14F-4D97-AF65-F5344CB8AC3E}">
        <p14:creationId xmlns:p14="http://schemas.microsoft.com/office/powerpoint/2010/main" val="1124875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Automatic memory management</a:t>
            </a:r>
            <a:r>
              <a:rPr lang="en-GB" dirty="0"/>
              <a:t>.</a:t>
            </a:r>
          </a:p>
          <a:p>
            <a:r>
              <a:rPr dirty="0"/>
              <a:t>Handled by JVM using Garbage Collection</a:t>
            </a:r>
            <a:r>
              <a:rPr lang="en-GB" dirty="0"/>
              <a:t>.</a:t>
            </a:r>
          </a:p>
          <a:p>
            <a:r>
              <a:rPr lang="en-GB" dirty="0"/>
              <a:t>Memory divided into Stack, Heap, and Method Area.</a:t>
            </a:r>
          </a:p>
          <a:p>
            <a:r>
              <a:rPr lang="en-GB" dirty="0"/>
              <a:t>Objects stored in Heap using new keyword.</a:t>
            </a:r>
          </a:p>
          <a:p>
            <a:r>
              <a:rPr lang="en-GB" dirty="0"/>
              <a:t>Unused objects are automatically removed. </a:t>
            </a:r>
          </a:p>
          <a:p>
            <a:r>
              <a:rPr lang="en-GB" dirty="0"/>
              <a:t>Improves program safety and reduces errors 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708"/>
            <a:ext cx="5043054" cy="720435"/>
          </a:xfrm>
        </p:spPr>
        <p:txBody>
          <a:bodyPr/>
          <a:lstStyle/>
          <a:p>
            <a:r>
              <a:rPr lang="en-US" sz="4400" dirty="0"/>
              <a:t>Garbage Value:</a:t>
            </a:r>
            <a:endParaRPr lang="en-US" sz="4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218" y="748144"/>
            <a:ext cx="7564582" cy="817420"/>
          </a:xfrm>
        </p:spPr>
        <p:txBody>
          <a:bodyPr>
            <a:norm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garbage value</a:t>
            </a:r>
            <a:r>
              <a:rPr lang="en-US" sz="2000" dirty="0"/>
              <a:t> is a </a:t>
            </a:r>
            <a:r>
              <a:rPr lang="en-US" sz="2000" b="1" dirty="0"/>
              <a:t>random or unknown value</a:t>
            </a:r>
            <a:r>
              <a:rPr lang="en-US" sz="2000" dirty="0"/>
              <a:t> stored in a variable when it is </a:t>
            </a:r>
            <a:r>
              <a:rPr lang="en-US" sz="2000" b="1" dirty="0"/>
              <a:t>not initialized</a:t>
            </a:r>
            <a:r>
              <a:rPr lang="en-US" sz="2400" dirty="0"/>
              <a:t>.</a:t>
            </a:r>
          </a:p>
          <a:p>
            <a:endParaRPr lang="en-US" sz="1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7" y="1565565"/>
            <a:ext cx="8381999" cy="4917802"/>
          </a:xfrm>
        </p:spPr>
      </p:pic>
    </p:spTree>
    <p:extLst>
      <p:ext uri="{BB962C8B-B14F-4D97-AF65-F5344CB8AC3E}">
        <p14:creationId xmlns:p14="http://schemas.microsoft.com/office/powerpoint/2010/main" val="348814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6E44D6-2137-E7FE-B748-15F2419FA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70" y="1319845"/>
            <a:ext cx="7988060" cy="519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C423A-BC27-936F-00AD-43321B33459F}"/>
              </a:ext>
            </a:extLst>
          </p:cNvPr>
          <p:cNvSpPr txBox="1"/>
          <p:nvPr/>
        </p:nvSpPr>
        <p:spPr>
          <a:xfrm>
            <a:off x="646981" y="178567"/>
            <a:ext cx="6944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Java (GCE) Flow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100607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138024"/>
            <a:ext cx="6140377" cy="819508"/>
          </a:xfrm>
        </p:spPr>
        <p:txBody>
          <a:bodyPr/>
          <a:lstStyle/>
          <a:p>
            <a:r>
              <a:rPr lang="en-GB" dirty="0"/>
              <a:t>Applications of </a:t>
            </a:r>
            <a:r>
              <a:rPr dirty="0"/>
              <a:t>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957532"/>
            <a:ext cx="2870965" cy="1259457"/>
          </a:xfrm>
        </p:spPr>
        <p:txBody>
          <a:bodyPr>
            <a:normAutofit lnSpcReduction="10000"/>
          </a:bodyPr>
          <a:lstStyle/>
          <a:p>
            <a:r>
              <a:rPr dirty="0"/>
              <a:t>1. Stack Memory</a:t>
            </a:r>
          </a:p>
          <a:p>
            <a:r>
              <a:rPr dirty="0"/>
              <a:t>2. Heap Memory</a:t>
            </a:r>
          </a:p>
          <a:p>
            <a:r>
              <a:rPr dirty="0"/>
              <a:t>3. Method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82D1A-D1AF-5D7B-B8B3-E0D81EDB6CE0}"/>
              </a:ext>
            </a:extLst>
          </p:cNvPr>
          <p:cNvSpPr txBox="1"/>
          <p:nvPr/>
        </p:nvSpPr>
        <p:spPr>
          <a:xfrm>
            <a:off x="638355" y="2449902"/>
            <a:ext cx="7841411" cy="3830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643DC-14B9-0BC7-F032-54998421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0" y="2130725"/>
            <a:ext cx="7572362" cy="43218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A223-EA4B-7A85-7A8D-E6D416D2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28" y="408950"/>
            <a:ext cx="7487729" cy="1411223"/>
          </a:xfrm>
        </p:spPr>
        <p:txBody>
          <a:bodyPr/>
          <a:lstStyle/>
          <a:p>
            <a:r>
              <a:rPr lang="en-GB" dirty="0"/>
              <a:t>Java Memory Management Working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847BD9-47E9-7FD4-3CB4-3BF17EE55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551" y="1820174"/>
            <a:ext cx="8307237" cy="473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150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958034"/>
            <a:ext cx="6711654" cy="4195481"/>
          </a:xfrm>
        </p:spPr>
        <p:txBody>
          <a:bodyPr/>
          <a:lstStyle/>
          <a:p>
            <a:r>
              <a:rPr lang="en-GB" dirty="0"/>
              <a:t>Efficient Memory Allocation </a:t>
            </a:r>
          </a:p>
          <a:p>
            <a:r>
              <a:rPr lang="en-GB" dirty="0"/>
              <a:t>Proper Memory Deallocation </a:t>
            </a:r>
          </a:p>
          <a:p>
            <a:r>
              <a:rPr lang="en-GB" dirty="0"/>
              <a:t>Minimizing Unnecessary Objects and Variables </a:t>
            </a:r>
          </a:p>
          <a:p>
            <a:r>
              <a:rPr lang="en-GB" dirty="0"/>
              <a:t>Memory Reuse and Optimization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720</TotalTime>
  <Words>386</Words>
  <Application>Microsoft Office PowerPoint</Application>
  <PresentationFormat>On-screen Show (4:3)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Unicode MS</vt:lpstr>
      <vt:lpstr>Calibri</vt:lpstr>
      <vt:lpstr>Century Gothic</vt:lpstr>
      <vt:lpstr>Google Sans</vt:lpstr>
      <vt:lpstr>Wingdings</vt:lpstr>
      <vt:lpstr>Wingdings 3</vt:lpstr>
      <vt:lpstr>Ion</vt:lpstr>
      <vt:lpstr>PowerPoint Presentation</vt:lpstr>
      <vt:lpstr>Introduction</vt:lpstr>
      <vt:lpstr> What is Memory Optimization  </vt:lpstr>
      <vt:lpstr>Memory Management in C</vt:lpstr>
      <vt:lpstr>Types of memory in C</vt:lpstr>
      <vt:lpstr>Memory  Layout of a C Program </vt:lpstr>
      <vt:lpstr>Functions in C</vt:lpstr>
      <vt:lpstr>Uninitialized Variable &amp; Garbage Value (C)</vt:lpstr>
      <vt:lpstr>Garbage Value </vt:lpstr>
      <vt:lpstr>Memory Management in Java</vt:lpstr>
      <vt:lpstr>Garbage Value:</vt:lpstr>
      <vt:lpstr>PowerPoint Presentation</vt:lpstr>
      <vt:lpstr>Applications of  Java</vt:lpstr>
      <vt:lpstr>Java Memory Management Working</vt:lpstr>
      <vt:lpstr>Conclusion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 in C vs Java</dc:title>
  <dc:creator>DELL</dc:creator>
  <dc:description>generated using python-pptx</dc:description>
  <cp:lastModifiedBy>seetharamanj</cp:lastModifiedBy>
  <cp:revision>34</cp:revision>
  <dcterms:created xsi:type="dcterms:W3CDTF">2013-01-27T09:14:16Z</dcterms:created>
  <dcterms:modified xsi:type="dcterms:W3CDTF">2026-04-15T07:56:57Z</dcterms:modified>
</cp:coreProperties>
</file>